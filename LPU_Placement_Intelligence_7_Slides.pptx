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804672"/>
            <a:ext cx="10728655" cy="53949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9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188720"/>
            <a:ext cx="164592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LPU CAPSTONE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188720"/>
            <a:ext cx="1645920" cy="3291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146304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94.12%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LPU Placement Intelligence</a:t>
            </a:r>
          </a:p>
          <a:p>
            <a:r>
              <a:rPr sz="2000">
                <a:solidFill>
                  <a:srgbClr val="06B6D4"/>
                </a:solidFill>
                <a:latin typeface="Arial"/>
              </a:rPr>
              <a:t>Student Placement Readiness Predictor &amp; Skill Gap Analyzer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3584" y="3364992"/>
            <a:ext cx="9784080" cy="12801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3291840"/>
            <a:ext cx="9784080" cy="1280160"/>
          </a:xfrm>
          <a:prstGeom prst="roundRect">
            <a:avLst/>
          </a:prstGeom>
          <a:solidFill>
            <a:srgbClr val="1A243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59E0B"/>
                </a:solidFill>
              </a:rPr>
              <a:t>What is this project?</a:t>
            </a:r>
          </a:p>
          <a:p>
            <a:r>
              <a:rPr sz="1200">
                <a:solidFill>
                  <a:srgbClr val="E2E8F0"/>
                </a:solidFill>
              </a:rPr>
              <a:t>An AI platform that checks 9 student skills (Coding, CGPA, Projects, Backlogs) and gives a 0-100 Placement Score, shows skill gaps, and creates a step-by-step improvement plan before campus recruitment begins.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Presented By: School of Computer Science &amp; Engineering, Lovely Professional University</a:t>
            </a:r>
          </a:p>
          <a:p>
            <a:r>
              <a:rPr sz="1100">
                <a:solidFill>
                  <a:srgbClr val="06B6D4"/>
                </a:solidFill>
              </a:rPr>
              <a:t>Tech Stack: Python 3.12 · Random Forest AI · Flask REST API · React 18 &amp; Vite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Why We Built This: Problem vs AI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444752"/>
            <a:ext cx="5120640" cy="484632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141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600200"/>
            <a:ext cx="2011680" cy="34747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CURRENT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F43F5E"/>
                </a:solidFill>
              </a:rPr>
              <a:t>• Too Late Feedback: </a:t>
            </a:r>
            <a:r>
              <a:rPr sz="1200">
                <a:solidFill>
                  <a:srgbClr val="FFFFFF"/>
                </a:solidFill>
              </a:rPr>
              <a:t>Students only find out their weak areas after getting rejected in real placement interviews.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43F5E"/>
                </a:solidFill>
              </a:rPr>
              <a:t>• Only Focused on CGPA: </a:t>
            </a:r>
            <a:r>
              <a:rPr sz="1200">
                <a:solidFill>
                  <a:srgbClr val="FFFFFF"/>
                </a:solidFill>
              </a:rPr>
              <a:t>Many students believe high marks are enough, but companies eliminate based on Coding &amp; Backlogs.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43F5E"/>
                </a:solidFill>
              </a:rPr>
              <a:t>• No Clear Guidance: </a:t>
            </a:r>
            <a:r>
              <a:rPr sz="1200">
                <a:solidFill>
                  <a:srgbClr val="FFFFFF"/>
                </a:solidFill>
              </a:rPr>
              <a:t>Students don't know whether to focus on LeetCode coding, projects, or aptitude tests.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43F5E"/>
                </a:solidFill>
              </a:rPr>
              <a:t>• Active Backlogs Risk: </a:t>
            </a:r>
            <a:r>
              <a:rPr sz="1200">
                <a:solidFill>
                  <a:srgbClr val="FFFFFF"/>
                </a:solidFill>
              </a:rPr>
              <a:t>Even 1 active backlog disqualifies students from 80%+ corporate drives.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444752"/>
            <a:ext cx="5120640" cy="484632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0201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600200"/>
            <a:ext cx="20116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OUR AI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</a:rPr>
              <a:t>• Instant Readiness Score (0-100): </a:t>
            </a:r>
            <a:r>
              <a:rPr sz="1200">
                <a:solidFill>
                  <a:srgbClr val="FFFFFF"/>
                </a:solidFill>
              </a:rPr>
              <a:t>Calculates clear placement probability before companies arrive on campus.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</a:rPr>
              <a:t>• Checks 9 Real Competencies: </a:t>
            </a:r>
            <a:r>
              <a:rPr sz="1200">
                <a:solidFill>
                  <a:srgbClr val="FFFFFF"/>
                </a:solidFill>
              </a:rPr>
              <a:t>Evaluates Coding, Technical CS, Aptitude, Communication, Projects, and Backlogs.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</a:rPr>
              <a:t>• 8-Dimension Skill Gap Matrix: </a:t>
            </a:r>
            <a:r>
              <a:rPr sz="1200">
                <a:solidFill>
                  <a:srgbClr val="FFFFFF"/>
                </a:solidFill>
              </a:rPr>
              <a:t>Compares student scores against real company cutoffs and shows green/red badges.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</a:rPr>
              <a:t>• Step-by-Step Action Roadmap: </a:t>
            </a:r>
            <a:r>
              <a:rPr sz="1200">
                <a:solidFill>
                  <a:srgbClr val="FFFFFF"/>
                </a:solidFill>
              </a:rPr>
              <a:t>Gives prioritized remedial advice (e.g., 'Solve 50 DSA problems', 'Clear backlog').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How It Works: 4-Step Intelligent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444752"/>
            <a:ext cx="2560320" cy="475488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475488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6032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219456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1. Input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Student Profile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CBD5E1"/>
                </a:solidFill>
              </a:rPr>
              <a:t>Student inputs 9 simple values: CGPA, Coding %, Tech %, Projects, Backlogs.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" y="4462272"/>
            <a:ext cx="2194560" cy="137160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219456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6B6D4"/>
                </a:solidFill>
              </a:rPr>
              <a:t>Key Highlight:</a:t>
            </a:r>
          </a:p>
          <a:p>
            <a:r>
              <a:rPr sz="1100">
                <a:solidFill>
                  <a:srgbClr val="FFFFFF"/>
                </a:solidFill>
              </a:rPr>
              <a:t>Zero Personal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444752"/>
            <a:ext cx="2560320" cy="475488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371600"/>
            <a:ext cx="2560320" cy="475488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371600"/>
            <a:ext cx="25603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39312" y="1645920"/>
            <a:ext cx="219456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2. 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488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Random Forest AI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CBD5E1"/>
                </a:solidFill>
              </a:rPr>
              <a:t>250 Decision Trees evaluate the student profile &amp; predict readiness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94176" y="4462272"/>
            <a:ext cx="2194560" cy="137160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9312" y="4389120"/>
            <a:ext cx="219456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B5CF6"/>
                </a:solidFill>
              </a:rPr>
              <a:t>Key Highlight:</a:t>
            </a:r>
          </a:p>
          <a:p>
            <a:r>
              <a:rPr sz="1100">
                <a:solidFill>
                  <a:srgbClr val="FFFFFF"/>
                </a:solidFill>
              </a:rPr>
              <a:t>250 Estimator Trees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444752"/>
            <a:ext cx="2560320" cy="475488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1344" y="1371600"/>
            <a:ext cx="2560320" cy="475488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1371600"/>
            <a:ext cx="2560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4224" y="1645920"/>
            <a:ext cx="219456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3. Gap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1488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Cutoff Comparison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CBD5E1"/>
                </a:solidFill>
              </a:rPr>
              <a:t>Checks each skill against company benchmarks (e.g. CGPA &gt;= 7.5, Coding &gt;= 75%).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4462272"/>
            <a:ext cx="2194560" cy="137160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4224" y="4389120"/>
            <a:ext cx="219456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Key Highlight:</a:t>
            </a:r>
          </a:p>
          <a:p>
            <a:r>
              <a:rPr sz="1100">
                <a:solidFill>
                  <a:srgbClr val="FFFFFF"/>
                </a:solidFill>
              </a:rPr>
              <a:t>8 Rule Dimensions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444752"/>
            <a:ext cx="2560320" cy="475488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06256" y="1371600"/>
            <a:ext cx="2560320" cy="475488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06256" y="1371600"/>
            <a:ext cx="25603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89136" y="1645920"/>
            <a:ext cx="219456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4. Prescriptive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21488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FFFF"/>
                </a:solidFill>
              </a:rPr>
              <a:t>Live Dashboard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CBD5E1"/>
                </a:solidFill>
              </a:rPr>
              <a:t>Displays circular score gauge, color-coded gap matrix, and personalized action roadmap.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462272"/>
            <a:ext cx="2194560" cy="137160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89136" y="4389120"/>
            <a:ext cx="219456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0B981"/>
                </a:solidFill>
              </a:rPr>
              <a:t>Key Highlight:</a:t>
            </a:r>
          </a:p>
          <a:p>
            <a:r>
              <a:rPr sz="1100">
                <a:solidFill>
                  <a:srgbClr val="FFFFFF"/>
                </a:solidFill>
              </a:rPr>
              <a:t>Real-Time SVG Gauge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DATASET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The 9 Student Competencies &amp; 4,048 Dataset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353312"/>
            <a:ext cx="6400800" cy="49377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400800" cy="493776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08760"/>
            <a:ext cx="2926080" cy="3291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9 ACTIONABLE COMPETENCY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100">
                <a:solidFill>
                  <a:srgbClr val="10B981"/>
                </a:solidFill>
              </a:rPr>
              <a:t>✔ CGPA (Cutoff &gt;= 7.5): </a:t>
            </a:r>
            <a:r>
              <a:rPr sz="1050">
                <a:solidFill>
                  <a:srgbClr val="E2E8F0"/>
                </a:solidFill>
              </a:rPr>
              <a:t>Academic consistency for company eligibility test rounds.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0B981"/>
                </a:solidFill>
              </a:rPr>
              <a:t>✔ Coding Score (Cutoff &gt;= 75%): </a:t>
            </a:r>
            <a:r>
              <a:rPr sz="1050">
                <a:solidFill>
                  <a:srgbClr val="E2E8F0"/>
                </a:solidFill>
              </a:rPr>
              <a:t>DSA &amp; problem-solving ability tested in automated HackerRank tests.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0B981"/>
                </a:solidFill>
              </a:rPr>
              <a:t>✔ Technical CS (Cutoff &gt;= 75%): </a:t>
            </a:r>
            <a:r>
              <a:rPr sz="1050">
                <a:solidFill>
                  <a:srgbClr val="E2E8F0"/>
                </a:solidFill>
              </a:rPr>
              <a:t>Core computer science fundamentals: DBMS, OS, OOP, and Networks.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0B981"/>
                </a:solidFill>
              </a:rPr>
              <a:t>✔ Active Backlogs (Cutoff == 0): </a:t>
            </a:r>
            <a:r>
              <a:rPr sz="1050">
                <a:solidFill>
                  <a:srgbClr val="E2E8F0"/>
                </a:solidFill>
              </a:rPr>
              <a:t>Strict binary eliminator: even 1 backlog disqualifies from 80%+ drives.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0B981"/>
                </a:solidFill>
              </a:rPr>
              <a:t>✔ Aptitude Score (Cutoff &gt;= 70%): </a:t>
            </a:r>
            <a:r>
              <a:rPr sz="1050">
                <a:solidFill>
                  <a:srgbClr val="E2E8F0"/>
                </a:solidFill>
              </a:rPr>
              <a:t>Quantitative reasoning and analytical problem solving.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0B981"/>
                </a:solidFill>
              </a:rPr>
              <a:t>✔ Internships (Cutoff &gt;= 1): </a:t>
            </a:r>
            <a:r>
              <a:rPr sz="1050">
                <a:solidFill>
                  <a:srgbClr val="E2E8F0"/>
                </a:solidFill>
              </a:rPr>
              <a:t>Real industry exposure; massive boost in final interviews.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0B981"/>
                </a:solidFill>
              </a:rPr>
              <a:t>✔ Projects (Cutoff &gt;= 2): </a:t>
            </a:r>
            <a:r>
              <a:rPr sz="1050">
                <a:solidFill>
                  <a:srgbClr val="E2E8F0"/>
                </a:solidFill>
              </a:rPr>
              <a:t>Hands-on software development evaluated during technical interview.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1504" y="1353312"/>
            <a:ext cx="4053535" cy="49377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1280160"/>
            <a:ext cx="4053535" cy="493776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1508760"/>
            <a:ext cx="292608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7 DATASETS · 4,048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59E0B"/>
                </a:solidFill>
              </a:rPr>
              <a:t>Comprehensive Repository: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BD5E1"/>
                </a:solidFill>
              </a:rPr>
              <a:t>1. students.csv (253 rows) — Primary 9-feature LPU model training.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BD5E1"/>
                </a:solidFill>
              </a:rPr>
              <a:t>2. college_placement_eng.csv (2,966 rows) — Large engineering dataset.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BD5E1"/>
                </a:solidFill>
              </a:rPr>
              <a:t>3. campus_recruitment_kaggle.csv (215 rows) — Historical college marks.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BD5E1"/>
                </a:solidFill>
              </a:rPr>
              <a:t>4. job_placement_features.csv (215 rows) — Standardized recruitment data.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BD5E1"/>
                </a:solidFill>
              </a:rPr>
              <a:t>5. engineering_skills.csv (99 rows) — 5 Semesters &amp; coding languages.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BD5E1"/>
                </a:solidFill>
              </a:rPr>
              <a:t>6. placement_package_salary.csv (200 rows) — CGPA vs LPA regression.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BD5E1"/>
                </a:solidFill>
              </a:rPr>
              <a:t>7. placement_iq_academic.csv (100 rows) — Cognitive IQ &amp; CGPA.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High Accuracy Machine Learning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353312"/>
            <a:ext cx="3474720" cy="201168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201168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10B981"/>
                </a:solidFill>
              </a:rPr>
              <a:t>94.12%</a:t>
            </a:r>
          </a:p>
          <a:p>
            <a:r>
              <a:rPr b="1" sz="1400">
                <a:solidFill>
                  <a:srgbClr val="FFFFFF"/>
                </a:solidFill>
              </a:rPr>
              <a:t>Testing Accuracy</a:t>
            </a:r>
          </a:p>
          <a:p>
            <a:r>
              <a:rPr sz="1050">
                <a:solidFill>
                  <a:srgbClr val="94A3B8"/>
                </a:solidFill>
              </a:rPr>
              <a:t>48 out of 51 test students predicted accurately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353312"/>
            <a:ext cx="3474720" cy="201168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280160"/>
            <a:ext cx="3474720" cy="201168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716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06B6D4"/>
                </a:solidFill>
              </a:rPr>
              <a:t>0.9908</a:t>
            </a:r>
          </a:p>
          <a:p>
            <a:r>
              <a:rPr b="1" sz="1400">
                <a:solidFill>
                  <a:srgbClr val="FFFFFF"/>
                </a:solidFill>
              </a:rPr>
              <a:t>ROC-AUC Score</a:t>
            </a:r>
          </a:p>
          <a:p>
            <a:r>
              <a:rPr sz="1050">
                <a:solidFill>
                  <a:srgbClr val="94A3B8"/>
                </a:solidFill>
              </a:rPr>
              <a:t>Near-perfect ranking discrimination 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353312"/>
            <a:ext cx="3474720" cy="201168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280160"/>
            <a:ext cx="3474720" cy="201168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3716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8B5CF6"/>
                </a:solidFill>
              </a:rPr>
              <a:t>96.00%</a:t>
            </a:r>
          </a:p>
          <a:p>
            <a:r>
              <a:rPr b="1" sz="1400">
                <a:solidFill>
                  <a:srgbClr val="FFFFFF"/>
                </a:solidFill>
              </a:rPr>
              <a:t>Model Recall</a:t>
            </a:r>
          </a:p>
          <a:p>
            <a:r>
              <a:rPr sz="1050">
                <a:solidFill>
                  <a:srgbClr val="94A3B8"/>
                </a:solidFill>
              </a:rPr>
              <a:t>Only 1 false negative (does not miss ready students)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547872"/>
            <a:ext cx="6217920" cy="274320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6217920" cy="274320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5852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6B6D4"/>
                </a:solidFill>
              </a:rPr>
              <a:t>What Drives Placement? (Feature Importance)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2E8F0"/>
                </a:solidFill>
              </a:rPr>
              <a:t>CGPA (Academic cutoffs): 25.18%  ██████████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2E8F0"/>
                </a:solidFill>
              </a:rPr>
              <a:t>Technical Score (Core CS fundamentals): 18.82%  ████████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2E8F0"/>
                </a:solidFill>
              </a:rPr>
              <a:t>Coding Score (DSA problem solving): 16.76%  ███████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2E8F0"/>
                </a:solidFill>
              </a:rPr>
              <a:t>Active Backlogs (Direct disqualifier): 12.57%  █████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2E8F0"/>
                </a:solidFill>
              </a:rPr>
              <a:t>Aptitude / Internships / Projects: 26.67%  ██████████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4" y="3547872"/>
            <a:ext cx="4327855" cy="274320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3474720"/>
            <a:ext cx="4327855" cy="274320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56616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0B981"/>
                </a:solidFill>
              </a:rPr>
              <a:t>Test Confusion Matrix (51 Students)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• True Negatives (25): Correctly found students needing preparation.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• True Positives (23): Correctly detected placement-ready students.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• False Negatives (Only 1!): Almost zero ready students missed.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• False Positives (2): Minimal over-predictions.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Live Dashboard &amp; Student Diagnostics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353312"/>
            <a:ext cx="6949440" cy="49377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949440" cy="493776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dashboard_top_per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18704" y="1353312"/>
            <a:ext cx="3596335" cy="49377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596335" cy="493776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292608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INTERACTIVE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★ Real-Time SVG Circular Gauge: </a:t>
            </a:r>
            <a:r>
              <a:rPr sz="1000">
                <a:solidFill>
                  <a:srgbClr val="FFFFFF"/>
                </a:solidFill>
              </a:rPr>
              <a:t>Shows animated 0-100 score instantly as student changes sliders.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★ 4 Quick Presets: </a:t>
            </a:r>
            <a:r>
              <a:rPr sz="1000">
                <a:solidFill>
                  <a:srgbClr val="FFFFFF"/>
                </a:solidFill>
              </a:rPr>
              <a:t>1-Click test for Top Performer, Average, Needs Focus, or Backlogs.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★ Skill Gap Matrix: </a:t>
            </a:r>
            <a:r>
              <a:rPr sz="1000">
                <a:solidFill>
                  <a:srgbClr val="FFFFFF"/>
                </a:solidFill>
              </a:rPr>
              <a:t>Color-coded chips show exactly which subjects need improvement.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★ Action Roadmap: </a:t>
            </a:r>
            <a:r>
              <a:rPr sz="1000">
                <a:solidFill>
                  <a:srgbClr val="FFFFFF"/>
                </a:solidFill>
              </a:rPr>
              <a:t>Step-by-step checklist prioritized by urgency (Critical, High, Medium).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★ Printable Report: </a:t>
            </a:r>
            <a:r>
              <a:rPr sz="1000">
                <a:solidFill>
                  <a:srgbClr val="FFFFFF"/>
                </a:solidFill>
              </a:rPr>
              <a:t>Export diagnostic report for counseling sessions.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PROJECT SUMMARY &amp;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Conclusion &amp; Key Viva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353312"/>
            <a:ext cx="5120640" cy="49377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08760"/>
            <a:ext cx="256032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 KEY PROJECT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1. Early Warning Diagnostics:
</a:t>
            </a:r>
            <a:r>
              <a:rPr sz="1100">
                <a:solidFill>
                  <a:srgbClr val="FFFFFF"/>
                </a:solidFill>
              </a:rPr>
              <a:t>Replaces post-rejection counseling with early 6-to-12 month intervention.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2. Beyond Just Marks:
</a:t>
            </a:r>
            <a:r>
              <a:rPr sz="1100">
                <a:solidFill>
                  <a:srgbClr val="FFFFFF"/>
                </a:solidFill>
              </a:rPr>
              <a:t>Proves that Coding, CS fundamentals, and zero backlogs are as critical as CGPA.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3. Production-Ready Platform:
</a:t>
            </a:r>
            <a:r>
              <a:rPr sz="1100">
                <a:solidFill>
                  <a:srgbClr val="FFFFFF"/>
                </a:solidFill>
              </a:rPr>
              <a:t>Trained on 4,048 student records with working Flask API and React frontend.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353312"/>
            <a:ext cx="5120640" cy="4937760"/>
          </a:xfrm>
          <a:prstGeom prst="round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4937760"/>
          </a:xfrm>
          <a:prstGeom prst="roundRect">
            <a:avLst/>
          </a:prstGeom>
          <a:solidFill>
            <a:srgbClr val="171F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256032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VIVA DEFENSE CHEATSHEET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150">
                <a:solidFill>
                  <a:srgbClr val="F59E0B"/>
                </a:solidFill>
              </a:rPr>
              <a:t>Q: Why Random Forest over Deep Learning?
</a:t>
            </a:r>
            <a:r>
              <a:rPr sz="1050">
                <a:solidFill>
                  <a:srgbClr val="E2E8F0"/>
                </a:solidFill>
              </a:rPr>
              <a:t>A: Handles mixed numbers/categories, resists overfitting, and explains which skills matter via Gini importance.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59E0B"/>
                </a:solidFill>
              </a:rPr>
              <a:t>Q: Where did you get the datasets?
</a:t>
            </a:r>
            <a:r>
              <a:rPr sz="1050">
                <a:solidFill>
                  <a:srgbClr val="E2E8F0"/>
                </a:solidFill>
              </a:rPr>
              <a:t>A: 7 datasets with 4,048 records from Kaggle &amp; academic repositories. 100% anonymized with zero PII.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59E0B"/>
                </a:solidFill>
              </a:rPr>
              <a:t>Q: Does high score guarantee a job?
</a:t>
            </a:r>
            <a:r>
              <a:rPr sz="1050">
                <a:solidFill>
                  <a:srgbClr val="E2E8F0"/>
                </a:solidFill>
              </a:rPr>
              <a:t>A: No, it is a diagnostic tool to guide preparation; actual placement depends on company interviews.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